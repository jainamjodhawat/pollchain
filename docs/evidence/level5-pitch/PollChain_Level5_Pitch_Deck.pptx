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ddf16ec4bd4144" /><Relationship Type="http://schemas.openxmlformats.org/officeDocument/2006/relationships/extended-properties" Target="/docProps/app.xml" Id="Ra26114a687714fa2" /><Relationship Type="http://schemas.openxmlformats.org/officeDocument/2006/relationships/officeDocument" Target="/ppt/presentation.xml" Id="Rf7d163fc777d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a570d47ca4c8f"/>
  </p:sldMasterIdLst>
  <p:notesMasterIdLst>
    <p:notesMasterId xmlns:r="http://schemas.openxmlformats.org/officeDocument/2006/relationships" r:id="R5c4d0733489a4525"/>
  </p:notesMasterIdLst>
  <p:sldIdLst>
    <p:sldId xmlns:r="http://schemas.openxmlformats.org/officeDocument/2006/relationships" id="256" r:id="R86c96dc577234f5a"/>
    <p:sldId xmlns:r="http://schemas.openxmlformats.org/officeDocument/2006/relationships" id="257" r:id="R35ae3d2e845440e7"/>
    <p:sldId xmlns:r="http://schemas.openxmlformats.org/officeDocument/2006/relationships" id="258" r:id="R12def9e77f5e4eef"/>
    <p:sldId xmlns:r="http://schemas.openxmlformats.org/officeDocument/2006/relationships" id="259" r:id="Re865a08e5dc34b9a"/>
    <p:sldId xmlns:r="http://schemas.openxmlformats.org/officeDocument/2006/relationships" id="260" r:id="R78ce4c36948c4286"/>
    <p:sldId xmlns:r="http://schemas.openxmlformats.org/officeDocument/2006/relationships" id="261" r:id="R24d4c666fd384570"/>
    <p:sldId xmlns:r="http://schemas.openxmlformats.org/officeDocument/2006/relationships" id="262" r:id="Rd2abe7f71001407a"/>
    <p:sldId xmlns:r="http://schemas.openxmlformats.org/officeDocument/2006/relationships" id="263" r:id="R4f666b87a1e74a99"/>
    <p:sldId xmlns:r="http://schemas.openxmlformats.org/officeDocument/2006/relationships" id="264" r:id="Rbaa4c047042d46c4"/>
    <p:sldId xmlns:r="http://schemas.openxmlformats.org/officeDocument/2006/relationships" id="265" r:id="Rc3522bd5d949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d84eed16c47f5" /><Relationship Type="http://schemas.openxmlformats.org/officeDocument/2006/relationships/slideMaster" Target="/ppt/slideMasters/slideMaster1.xml" Id="Rc57a570d47ca4c8f" /><Relationship Type="http://schemas.openxmlformats.org/officeDocument/2006/relationships/notesMaster" Target="/ppt/notesMasters/notesMaster1.xml" Id="R5c4d0733489a4525" /><Relationship Type="http://schemas.openxmlformats.org/officeDocument/2006/relationships/presProps" Target="/ppt/presProps.xml" Id="R14d4219e7f324af8" /><Relationship Type="http://schemas.openxmlformats.org/officeDocument/2006/relationships/tableStyles" Target="/ppt/tableStyles.xml" Id="R0953dcaa9b794e07" /><Relationship Type="http://schemas.openxmlformats.org/officeDocument/2006/relationships/slide" Target="/ppt/slides/slide1.xml" Id="R86c96dc577234f5a" /><Relationship Type="http://schemas.openxmlformats.org/officeDocument/2006/relationships/slide" Target="/ppt/slides/slide2.xml" Id="R35ae3d2e845440e7" /><Relationship Type="http://schemas.openxmlformats.org/officeDocument/2006/relationships/slide" Target="/ppt/slides/slide3.xml" Id="R12def9e77f5e4eef" /><Relationship Type="http://schemas.openxmlformats.org/officeDocument/2006/relationships/slide" Target="/ppt/slides/slide4.xml" Id="Re865a08e5dc34b9a" /><Relationship Type="http://schemas.openxmlformats.org/officeDocument/2006/relationships/slide" Target="/ppt/slides/slide5.xml" Id="R78ce4c36948c4286" /><Relationship Type="http://schemas.openxmlformats.org/officeDocument/2006/relationships/slide" Target="/ppt/slides/slide6.xml" Id="R24d4c666fd384570" /><Relationship Type="http://schemas.openxmlformats.org/officeDocument/2006/relationships/slide" Target="/ppt/slides/slide7.xml" Id="Rd2abe7f71001407a" /><Relationship Type="http://schemas.openxmlformats.org/officeDocument/2006/relationships/slide" Target="/ppt/slides/slide8.xml" Id="R4f666b87a1e74a99" /><Relationship Type="http://schemas.openxmlformats.org/officeDocument/2006/relationships/slide" Target="/ppt/slides/slide9.xml" Id="Rbaa4c047042d46c4" /><Relationship Type="http://schemas.openxmlformats.org/officeDocument/2006/relationships/slide" Target="/ppt/slides/slide10.xml" Id="Rc3522bd5d949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9dc9c6d4d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0ad1d71df7406a" /><Relationship Type="http://schemas.openxmlformats.org/officeDocument/2006/relationships/notesMaster" Target="/ppt/notesMasters/notesMaster1.xml" Id="R4477fb2d5c43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7f95201044294" /><Relationship Type="http://schemas.openxmlformats.org/officeDocument/2006/relationships/notesMaster" Target="/ppt/notesMasters/notesMaster1.xml" Id="R2cbc6620f9bc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6e33c9dc124b97" /><Relationship Type="http://schemas.openxmlformats.org/officeDocument/2006/relationships/notesMaster" Target="/ppt/notesMasters/notesMaster1.xml" Id="R56578801eda0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6e3806889b4d88" /><Relationship Type="http://schemas.openxmlformats.org/officeDocument/2006/relationships/notesMaster" Target="/ppt/notesMasters/notesMaster1.xml" Id="Ra4463ada4675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aa0392f50d40c9" /><Relationship Type="http://schemas.openxmlformats.org/officeDocument/2006/relationships/notesMaster" Target="/ppt/notesMasters/notesMaster1.xml" Id="R0ffb7b4843f1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7473aff90742d3" /><Relationship Type="http://schemas.openxmlformats.org/officeDocument/2006/relationships/notesMaster" Target="/ppt/notesMasters/notesMaster1.xml" Id="R2fbd8d34168947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1b788f5c264aaa" /><Relationship Type="http://schemas.openxmlformats.org/officeDocument/2006/relationships/notesMaster" Target="/ppt/notesMasters/notesMaster1.xml" Id="R0ca429781a3749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785544fabc41d1" /><Relationship Type="http://schemas.openxmlformats.org/officeDocument/2006/relationships/notesMaster" Target="/ppt/notesMasters/notesMaster1.xml" Id="R23e839557b814d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7db7d50304039" /><Relationship Type="http://schemas.openxmlformats.org/officeDocument/2006/relationships/notesMaster" Target="/ppt/notesMasters/notesMaster1.xml" Id="Rbc45712e9c90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0358f804d41f8" /><Relationship Type="http://schemas.openxmlformats.org/officeDocument/2006/relationships/notesMaster" Target="/ppt/notesMasters/notesMaster1.xml" Id="R4da28461635943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 that participation should produce public proof without forcing communities into expensive or opaque governance tooling.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https://pollchain-orcin.vercel.app</a:t>
            </a:r>
          </a:p>
          <a:p xmlns:a="http://schemas.openxmlformats.org/drawingml/2006/main">
            <a:r>
              <a:t>- https://github.com/jainamjodhawat/pollchain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auditability and activation, not around replacing community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judges through the user journey. The new receipt component is reused across faucet, proposal, vote, delegation and treasury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https://github.com/jainamjodhawat/pollchain/commit/a0e2123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stable split: the frontend calls Soroban through one integration layer while contracts keep voting, token, execution, treasury, faucet and delegation responsibilities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https://github.com/jainamjodhawat/pollchain/blob/main/docs/ARCHITECTURE.md</a:t>
            </a:r>
          </a:p>
          <a:p xmlns:a="http://schemas.openxmlformats.org/drawingml/2006/main">
            <a:r>
              <a:t>- https://developers.stellar.org/docs/build/smart-contracts/overview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onboarding and receipts reinforce each other. The proof panel is illustrative; do not present the shortened example as a real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https://github.com/jainamjodhawat/pollchain/commit/4e055e1</a:t>
            </a:r>
          </a:p>
          <a:p xmlns:a="http://schemas.openxmlformats.org/drawingml/2006/main">
            <a:r>
              <a:t>- https://github.com/jainamjodhawat/pollchain/commit/87e95b7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each response to repository evidence. The README contains the earlier feedback-to-commit table; Level 5 adds wallet stability, onboarding and activity proof as separate owner commits.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https://github.com/jainamjodhawat/pollchain/blob/main/docs/USER_FEEDBACK.md</a:t>
            </a:r>
          </a:p>
          <a:p xmlns:a="http://schemas.openxmlformats.org/drawingml/2006/main">
            <a:r>
              <a:t>- https://github.com/jainamjodhawat/pollchain/commit/87e95b7</a:t>
            </a:r>
          </a:p>
          <a:p xmlns:a="http://schemas.openxmlformats.org/drawingml/2006/main">
            <a:r>
              <a:t>- https://github.com/jainamjodhawat/pollchain/commit/a0e2123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the technology and evidence workflow are ready, but the Level 5 50-wallet target is not claimed until real testers complete real transactions. Commit count is measured at deck generation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https://github.com/jainamjodhawat/pollchain</a:t>
            </a:r>
          </a:p>
          <a:p xmlns:a="http://schemas.openxmlformats.org/drawingml/2006/main">
            <a:r>
              <a:t>- https://github.com/jainamjodhawat/pollchain/blob/main/README.md#contract-tests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campaign as a controlled product-learning exercise. The requested 2–3 minute interval is enforced in the tracker and validator, not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feature decisions are conditional on observed tester friction. Avoid promising a roadmap detached from the evidence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reviewers to evaluate the live MVP and the evidence discipline, then return after the real user campaign with verified public transactions.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https://pollchain-orcin.vercel.app</a:t>
            </a:r>
          </a:p>
          <a:p xmlns:a="http://schemas.openxmlformats.org/drawingml/2006/main">
            <a:r>
              <a:t>- https://github.com/jainamjodhawat/pollchain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8d6c9e4d2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3834452c94f93" /><Relationship Type="http://schemas.openxmlformats.org/officeDocument/2006/relationships/slideLayout" Target="/ppt/slideLayouts/slideLayout1.xml" Id="R8ec6c58e090846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c6c58e090846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a80de1e9d46f4" /><Relationship Type="http://schemas.openxmlformats.org/officeDocument/2006/relationships/notesSlide" Target="/ppt/notesSlides/notesSlide1.xml" Id="R708ac6c1da9d41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c4815bdfc434a" /><Relationship Type="http://schemas.openxmlformats.org/officeDocument/2006/relationships/notesSlide" Target="/ppt/notesSlides/notesSlide2.xml" Id="R0f1ff5eeaf2644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d452b859d4c73" /><Relationship Type="http://schemas.openxmlformats.org/officeDocument/2006/relationships/notesSlide" Target="/ppt/notesSlides/notesSlide3.xml" Id="R1f1a6d8f0a5d4a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880638bf47dd" /><Relationship Type="http://schemas.openxmlformats.org/officeDocument/2006/relationships/notesSlide" Target="/ppt/notesSlides/notesSlide4.xml" Id="Rf056526fd024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77006028440b1" /><Relationship Type="http://schemas.openxmlformats.org/officeDocument/2006/relationships/notesSlide" Target="/ppt/notesSlides/notesSlide5.xml" Id="Rc4c4d0b0f893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ef82413ef408a" /><Relationship Type="http://schemas.openxmlformats.org/officeDocument/2006/relationships/notesSlide" Target="/ppt/notesSlides/notesSlide6.xml" Id="R5096cde61cea4f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6f7a1a4104011" /><Relationship Type="http://schemas.openxmlformats.org/officeDocument/2006/relationships/notesSlide" Target="/ppt/notesSlides/notesSlide7.xml" Id="R4d3f953a358f40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5c9c2fa064b43" /><Relationship Type="http://schemas.openxmlformats.org/officeDocument/2006/relationships/notesSlide" Target="/ppt/notesSlides/notesSlide8.xml" Id="R5cf7596b4e094a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6b83e88084bcc" /><Relationship Type="http://schemas.openxmlformats.org/officeDocument/2006/relationships/notesSlide" Target="/ppt/notesSlides/notesSlide9.xml" Id="Rbfd7dc8c4f05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2d98558314faa" /><Relationship Type="http://schemas.openxmlformats.org/officeDocument/2006/relationships/notesSlide" Target="/ppt/notesSlides/notesSlide10.xml" Id="R7be35a0cdfdd4c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93B7E-DDE3-4CC4-B25A-5A1AB69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B686-2BD0-48D6-A43C-E83A75C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STELLAR LEVEL 5 • PRODUCT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37ED-3650-4DC7-9AC3-F917409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PollChain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92C1-BDF6-49DE-B466-5B7A4C94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23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Governance that turns a wallet into a visible, verifiable vote.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BB5F7-D55B-4915-930D-CF9F737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7C876-5E00-4743-BB49-BCD66C31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4780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609F-55E3-4F6C-9C47-249AB767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LIVE MVP  •  TESTNET</a:t>
            </a:r>
          </a:p>
        </p:txBody>
      </p:sp>
    </p:spTree>
    <p:extLst>
      <p:ext uri="{BB962C8B-B14F-4D97-AF65-F5344CB8AC3E}">
        <p14:creationId xmlns:p14="http://schemas.microsoft.com/office/powerpoint/2010/main" val="1127843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D6137-F499-4FBA-8F6C-EA542CA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Small communities still govern through scattered, unverifiable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A845C-6373-4059-BD82-950D7474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9BD12-0FA4-4CD2-A01F-EFE65ECC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238500" cy="38481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1B8B2-4D92-4616-A0CD-504A00E2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0CE7C-D2E5-4E85-8533-6221D402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Participation is fragmented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91BFC-B709-41A5-99AB-BE0E780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781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Wallet identity, discussion and voting live in different places, so the decision trail is hard to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87B9E-09FF-449D-8BCA-E3703AA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238500" cy="38481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133C3-5653-4E85-863F-55018F6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1A959-6CA0-4657-A3AE-78EA6BE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Trust depends on screenshots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57781-8EB3-447B-A4DB-EF2A553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781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Members cannot independently verify who interacted, what was recorded or when the action happened.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695CE-3F91-462B-9DC5-3B4D391C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238500" cy="38481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7523C-03F8-4AAA-BCA3-9C7ABA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786E2-C270-4D23-A60E-94C4C40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On-chain UX is intimidating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D57B1-CB71-4F24-BBD5-1A652469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781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Network setup, funding and transaction proof create friction before a first meaningful action.</a:t>
            </a:r>
          </a:p>
        </p:txBody>
      </p:sp>
    </p:spTree>
    <p:extLst>
      <p:ext uri="{BB962C8B-B14F-4D97-AF65-F5344CB8AC3E}">
        <p14:creationId xmlns:p14="http://schemas.microsoft.com/office/powerpoint/2010/main" val="1922386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DC347-1380-4FF0-9C66-90E3C001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PollChain compresses governance into one verifiable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064E1-C49E-4383-913E-06ED6A2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3B546-D6A8-45BC-8B1B-74717081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D6C9E-6B98-44F7-9FBD-AE7EAD55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247900" cy="24003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AB62A-46DE-4A4C-AC93-12441A4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3440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C3C25-A0C5-43B1-88CE-8F2F9B7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27EBB-3615-4A3F-8B9D-B27ACFC9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47F90-5E6F-4347-9A78-81F2415C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Freighter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02454-40BD-4E37-B7E9-3B7538D6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247900" cy="24003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81EE7-5202-47B7-9808-C64F19A1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3440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17FE9-0975-4D7D-B30F-686CBB5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765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0BD34-F2A7-410C-A01F-9DE27DF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PROPOSE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17166-775B-4772-B58A-D22B956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Create on Soroban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C2E84-5D3A-4548-BFBF-4FB3B6B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247900" cy="24003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ECA92-206E-4B99-99CE-07E5A92C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3440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8FC4C-271B-493E-A0E7-BBB4AF6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765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C5B30-D061-405D-8E5D-67FB3909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VOTE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8F304-C3B0-418F-A449-58DC038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Yes or 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13E9D-ED25-4C2F-94D2-5FC76D4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247900" cy="24003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C0643-09F2-4BCC-83B0-7C514C02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9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3440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1DDEB-AB96-4177-8DD6-8C23FCD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765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35D62-6419-407B-A95A-C94C168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7C746-F6F4-4441-B4FD-D180CC63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Copy transaction 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D5A88-BA3C-4F1B-8D68-E283721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Each successful action returns a wallet, transaction hash and StellarExpert link.</a:t>
            </a:r>
          </a:p>
        </p:txBody>
      </p:sp>
    </p:spTree>
    <p:extLst>
      <p:ext uri="{BB962C8B-B14F-4D97-AF65-F5344CB8AC3E}">
        <p14:creationId xmlns:p14="http://schemas.microsoft.com/office/powerpoint/2010/main" val="664566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0DABC-E1C2-4CD2-B42F-0D2518C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Six contracts separate governance responsibilities without fragmenting the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A3062-B77D-4356-9EA0-733C8566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43C5E-F370-419E-987B-E5F4924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2381250" cy="4095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B01D0-0497-47EC-965A-5A7E572F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75901-581A-4249-8CAA-20BA4EA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885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Wallet session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Transaction builder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Loading + errors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receipt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2BC7-DFC7-4A07-94DC-894DE39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Freighter + Stellar RPC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CE2B3-4573-46A5-A046-30A679A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6139B-8B76-4F08-8A2B-95FE16A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1CD6A-6480-4F53-8541-CB42315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3E4D0-2707-430D-89B9-AA1BA693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Voting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FF063-52F0-43AE-81F0-F7053399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40840-496F-4C9B-ABD0-3A9C268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33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2C0EC-1B14-45D3-B9F3-D9AD33B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Governance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8FA05-6728-4385-B15F-1E45A0F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22135-ADB5-4120-96AF-C6EF9C0D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33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F14E5-95B4-42D6-BEEC-A4DAF08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2D025-D70A-4470-BA38-EA67484A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ED640-FD68-4371-9676-461E748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84044-0C13-4089-92BE-8CECABE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Treasury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EABF1-6E65-4FB2-9943-EB9E2DB9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954DF-DA9C-49DE-A61F-ADA7B87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F1615-1896-4127-8717-E550CC3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Faucet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3AE9A-194B-4C67-AD80-46706BD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20764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CA78F-A603-49FC-BAA2-93E30B4F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0E09F-AD01-4821-B548-4EB7D46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Delegation</a:t>
            </a:r>
          </a:p>
        </p:txBody>
      </p:sp>
    </p:spTree>
    <p:extLst>
      <p:ext uri="{BB962C8B-B14F-4D97-AF65-F5344CB8AC3E}">
        <p14:creationId xmlns:p14="http://schemas.microsoft.com/office/powerpoint/2010/main" val="779575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CDC1F-FAC5-4F20-9C0B-D1F8B7E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The first transaction now feels like a guided trail, not a setup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51A72-C040-4DAE-A23B-323E40D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02A29-E4BE-45B6-87A3-FE106CF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089C8-0E12-49F3-B043-3EC6DB62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20C71-FE13-46F8-873F-4A80139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6CBFD-7DEE-4B38-AF48-678070B5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8289-0404-4784-AAAF-34D28BF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33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One shared wallet session across every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590F2-D453-488A-8757-85D9A079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39A50-15F7-43C6-A95D-FB964F3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6A0C7-4644-4991-8694-9A19DAE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Fund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D0544-4D8F-4147-B7C6-901059D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Open Friendbot and claim POLL from the faucet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605A1-DEFD-49D2-A9A4-EDBDC19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66314-6876-497B-8431-AEC5A71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8CEE6-0997-42B7-81DC-03E6F18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4C5EC-419E-4501-BC3B-AB915483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Vote, then copy public proof in one click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2F21-DD27-44C1-A0D3-D7DF53A7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714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FD156-3A6B-4F74-A26A-CFB77651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PUBLIC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70957-0C70-4161-A106-3CC153B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90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Vote submitted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8A72D-3494-40F6-8B73-87AA393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19450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Wallet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GB6K…4S2A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Transaction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8c31…a10f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↗ StellarExpert</a:t>
            </a:r>
          </a:p>
        </p:txBody>
      </p:sp>
    </p:spTree>
    <p:extLst>
      <p:ext uri="{BB962C8B-B14F-4D97-AF65-F5344CB8AC3E}">
        <p14:creationId xmlns:p14="http://schemas.microsoft.com/office/powerpoint/2010/main" val="1990798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932C3-8584-4597-99DB-735A14B5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User feedback changed both the product surface and the reliability underneath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CF3AB-3004-404B-8DB8-4777AFD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B30BA-BC19-470B-804D-DDB1857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5C34A-D420-4DD5-9FCA-BA56A3C2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PRODUCT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E4225-E2FF-4224-92F5-4455A11C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FA07B-B33E-4C98-B730-2865C9A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Vote percentages felt stale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B3FC4-5683-4432-9C57-9B1F293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621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9C70-B396-4CDF-B53E-E241B57E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372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4E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9E707-3BE9-431F-9183-C439DA7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Optimistic refresh after vote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9BFA5-465C-4882-AE0A-FCC388B5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5EF62-2300-4A29-A991-38EBD69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My proposals were hard to find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46309-20AE-4486-A38D-EB58B1BC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527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C33CF-F3EB-4A09-AF9F-04DA217B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372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4E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400CD-01B9-48FA-8010-3AB6CBE3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Dedicated My Proposals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A822D-BE91-44DD-80D8-A7C5AE17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FE702-0A4B-49D1-B4E3-FAB834FC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Wallet state was inconsistent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A38C1-A21F-451B-8220-32A26306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9C83E-A4BE-459E-9A52-FF48E25E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5372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4E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FAC22-14BA-45BE-B12E-FC7C0FAF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One application-wide wallet provider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78B93-5240-4897-8002-5BB9506E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DE4FD-6E0D-4724-8F0A-1F8F656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Proof was hard to share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B024B-22E3-4342-9850-F9024D5F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339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248E5-4199-4D2C-956E-B1317F9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5372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7EB4D-6978-4F78-A20C-8021B53D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Reusable transaction receipts</a:t>
            </a:r>
          </a:p>
        </p:txBody>
      </p:sp>
    </p:spTree>
    <p:extLst>
      <p:ext uri="{BB962C8B-B14F-4D97-AF65-F5344CB8AC3E}">
        <p14:creationId xmlns:p14="http://schemas.microsoft.com/office/powerpoint/2010/main" val="642290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BF7A6-3CAD-4038-BF60-F963483B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The product foundation is ready for a measured 50-wallet campaign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C315C-331E-48F9-98F7-66C527B7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F9956-289B-4778-BF5F-0FDA86CF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Verified before campaign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0757D-7A05-4103-8742-A00A4160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3352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409CE-132C-4C6E-99E3-ACB7818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A59BB-7386-4CAE-9718-36CDC43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Soroban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63781-53F7-4CB3-979A-BA255AD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3352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C786-6395-4BED-BD28-A70F1FB1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CB96A-1DD0-43BB-8C7C-4975CB4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contract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848ED-BA66-4C56-A629-29E60D6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352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BFFAC-F90A-468B-865D-05F5A46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2D52C-9B73-4CBC-B71B-ECEC97B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meaningful commits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1E99C-92F8-42B8-97D6-4A41869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0934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35B1F-FA72-441D-8905-9C56136E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 unique real wallets • 2–3 minute interval • transaction proof — PENDING TESTER COHORT</a:t>
            </a:r>
          </a:p>
        </p:txBody>
      </p:sp>
    </p:spTree>
    <p:extLst>
      <p:ext uri="{BB962C8B-B14F-4D97-AF65-F5344CB8AC3E}">
        <p14:creationId xmlns:p14="http://schemas.microsoft.com/office/powerpoint/2010/main" val="48904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21143-60C8-4E24-9E87-18B0140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Growth starts with one observable activation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C6614-8900-487D-BA76-14C25B9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1ED5-7D07-45BE-A3F8-7B61DA6D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7CE4-5072-4733-8F39-1E10B37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25729-A058-451B-9517-930A7257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10 × 5 cohorts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92C07-B7BB-4B55-B571-E664C310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ECD29-075E-433A-B0AA-69493E8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397B0-0D93-44DA-B416-511FBA8B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Invite communities with a clear 8-minute test script.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DF5BD-4D31-4200-A94E-33E6CD8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E2AD3-65C2-485F-AEB5-9FDD71B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1 verified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2DAD2-FEAB-4E39-ABEF-124787D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343EA-1F79-47EE-BD91-BCC602AE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D5CC5-8F64-4A51-9B3E-6F0E86A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Connect, fund, vote and copy the receipt.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B98D5-18DD-4941-B710-DD1FB4E3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97B29-4930-4532-8BEF-8F6BBBC9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Theme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08A92-43B3-4288-87D6-C46368C2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D7C5F-A13E-47D0-A908-6E2CF9EB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C16DB-9DE3-4C32-964F-6676D36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Group friction by wallet, funding, vote and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2AA34-0482-46C3-9719-B06FEE2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Campaign guardrail: unique wallets and real StellarExpert-visible transactions only.</a:t>
            </a:r>
          </a:p>
        </p:txBody>
      </p:sp>
    </p:spTree>
    <p:extLst>
      <p:ext uri="{BB962C8B-B14F-4D97-AF65-F5344CB8AC3E}">
        <p14:creationId xmlns:p14="http://schemas.microsoft.com/office/powerpoint/2010/main" val="1032839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6002C-7550-4979-83EB-F6ED2FA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Every phase turns evidence into the next product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22877-43BE-4983-90FB-CF352B54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FCEDA-567D-4C9A-980F-4901084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BD6AB-1095-404E-98DB-827A394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7ABA1-BDE6-4D3E-9D71-0700E4E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Campaign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E11A0-2B69-4B95-B9B1-4DE7A153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Guided onboarding</a:t>
            </a:r>
          </a:p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Shared wallet state</a:t>
            </a:r>
          </a:p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Receipts + evidence workbook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CF882-9990-4606-B064-927D6E3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344018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4CF87-25D1-4D2C-89E9-83A3148E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7674-2228-40A3-845D-B73C393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50-wallet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A50CA-580E-427A-A13C-3F369EB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Interval-controlled sessions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Activation + error analysis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Feedback-linked fixes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A5529-7E26-4A45-B4EC-A5814755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4928E-5DDD-4097-A942-95F3A65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A6A2E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F48F1-6B42-4A9C-A0FE-B338C64F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40B"/>
                </a:solidFill>
                <a:latin typeface="Helvetica Neue"/>
                <a:ea typeface="Helvetica Neue"/>
                <a:cs typeface="Helvetica Neue"/>
              </a:rPr>
              <a:t>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521F7-C6BD-458D-9B50-586760C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Proposal subscriptions</a:t>
            </a:r>
          </a:p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Governance notifications</a:t>
            </a:r>
          </a:p>
          <a:p xmlns:a="http://schemas.openxmlformats.org/drawingml/2006/main">
            <a:pPr algn="l">
              <a:def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755"/>
                </a:solidFill>
                <a:latin typeface="Helvetica Neue"/>
                <a:ea typeface="Helvetica Neue"/>
                <a:cs typeface="Helvetica Neue"/>
              </a:rPr>
              <a:t>Community-level analytics</a:t>
            </a:r>
          </a:p>
        </p:txBody>
      </p:sp>
    </p:spTree>
    <p:extLst>
      <p:ext uri="{BB962C8B-B14F-4D97-AF65-F5344CB8AC3E}">
        <p14:creationId xmlns:p14="http://schemas.microsoft.com/office/powerpoint/2010/main" val="305529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44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4432C-2D03-4DA0-8D1F-807AD92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A8A81-8F11-456C-8090-986C273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8382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 PollChain with 50 real wallets—and let the evidence choose the next build.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D5F73-7D7F-4A2D-B098-A78CE17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D512C-828D-4E54-B208-2918148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LIVE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84027-AD5B-41E8-95EF-61C629C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pollchain-orcin.vercel.app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97EF3-5D30-4AE4-BDD4-0F6F027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ED74"/>
                </a:solidFill>
                <a:latin typeface="Helvetica Neue"/>
                <a:ea typeface="Helvetica Neue"/>
                <a:cs typeface="Helvetica Neue"/>
              </a:rPr>
              <a:t>PUBLIC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63C3B-F37B-4D68-BE42-4B27B810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github.com/jainamjodhawat/pollchain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97D5E-ECEE-4267-8AF6-3CB25D2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ECD9"/>
                </a:solidFill>
                <a:latin typeface="Helvetica Neue"/>
                <a:ea typeface="Helvetica Neue"/>
                <a:cs typeface="Helvetica Neue"/>
              </a:rPr>
              <a:t>Owner: jainamjodhawat</a:t>
            </a:r>
          </a:p>
        </p:txBody>
      </p:sp>
    </p:spTree>
    <p:extLst>
      <p:ext uri="{BB962C8B-B14F-4D97-AF65-F5344CB8AC3E}">
        <p14:creationId xmlns:p14="http://schemas.microsoft.com/office/powerpoint/2010/main" val="1993122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2026-08-21T06:51:26.8130000Z</dcterms:created>
  <dcterms:modified xsi:type="dcterms:W3CDTF">2026-08-21T06:51:26.8130000Z</dcterms:modified>
</coreProperties>
</file>